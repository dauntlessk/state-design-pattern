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Space Grotesk Light"/>
      <p:regular r:id="rId15"/>
      <p:bold r:id="rId16"/>
    </p:embeddedFont>
    <p:embeddedFont>
      <p:font typeface="Space Grotesk Medium"/>
      <p:regular r:id="rId17"/>
      <p:bold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SpaceGroteskLight-regular.fntdata"/><Relationship Id="rId14" Type="http://schemas.openxmlformats.org/officeDocument/2006/relationships/slide" Target="slides/slide9.xml"/><Relationship Id="rId17" Type="http://schemas.openxmlformats.org/officeDocument/2006/relationships/font" Target="fonts/SpaceGroteskMedium-regular.fntdata"/><Relationship Id="rId16" Type="http://schemas.openxmlformats.org/officeDocument/2006/relationships/font" Target="fonts/SpaceGroteskLight-bold.fntdata"/><Relationship Id="rId19" Type="http://schemas.openxmlformats.org/officeDocument/2006/relationships/font" Target="fonts/SpaceGrotesk-regular.fntdata"/><Relationship Id="rId18" Type="http://schemas.openxmlformats.org/officeDocument/2006/relationships/font" Target="fonts/SpaceGrotesk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02b613821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d02b613821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02b613821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02b613821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02b613821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02b613821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2b613821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02b613821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02b613821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02b613821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02b613821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02b613821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02b613821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d02b613821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02b613821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d02b613821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02b613821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d02b613821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15" name="Google Shape;15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23" name="Google Shape;23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31" name="Google Shape;31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0" name="Google Shape;50;p3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" name="Google Shape;54;p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5" name="Google Shape;55;p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" name="Google Shape;59;p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1" name="Google Shape;61;p4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4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7" name="Google Shape;67;p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9" name="Google Shape;69;p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70" name="Google Shape;70;p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" name="Google Shape;78;p5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81" name="Google Shape;81;p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5" name="Google Shape;85;p6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92" name="Google Shape;92;p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9" name="Google Shape;99;p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05" name="Google Shape;105;p7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7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9" name="Google Shape;109;p8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7" name="Google Shape;117;p8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8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0" name="Google Shape;120;p8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1" name="Google Shape;121;p8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4" name="Google Shape;124;p9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9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7" name="Google Shape;127;p9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8" name="Google Shape;128;p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9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" name="Google Shape;133;p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34" name="Google Shape;134;p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35" name="Google Shape;135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43" name="Google Shape;143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51" name="Google Shape;151;p9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7" name="Google Shape;157;p1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9" name="Google Shape;159;p1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0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61" name="Google Shape;161;p1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162" name="Google Shape;162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9" name="Google Shape;169;p1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170" name="Google Shape;170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178" name="Google Shape;178;p10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1" name="Google Shape;181;p1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2" name="Google Shape;182;p1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3" name="Google Shape;183;p1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7" name="Google Shape;187;p11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0" name="Google Shape;190;p11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1" name="Google Shape;191;p11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2" name="Google Shape;192;p11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5" name="Google Shape;195;p12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7" name="Google Shape;197;p12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8" name="Google Shape;198;p12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9" name="Google Shape;199;p12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0" name="Google Shape;200;p12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12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2" name="Google Shape;202;p12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3" name="Google Shape;203;p12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4" name="Google Shape;204;p12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12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12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12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12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12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12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2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2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19" name="Google Shape;219;p1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20" name="Google Shape;220;p13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256" name="Google Shape;256;p1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58" name="Google Shape;258;p14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59" name="Google Shape;259;p14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6" name="Google Shape;266;p15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2" name="Google Shape;272;p15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8" name="Google Shape;278;p16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79" name="Google Shape;279;p1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280" name="Google Shape;280;p1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85" name="Google Shape;285;p1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89" name="Google Shape;289;p17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1" name="Google Shape;291;p17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5" name="Google Shape;295;p17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6" name="Google Shape;296;p17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7" name="Google Shape;297;p17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8" name="Google Shape;298;p17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0" name="Google Shape;300;p17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1" name="Google Shape;301;p17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2" name="Google Shape;302;p17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3" name="Google Shape;303;p17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06" name="Google Shape;306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10" name="Google Shape;310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14" name="Google Shape;314;p1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17" name="Google Shape;317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20" name="Google Shape;320;p18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1" name="Google Shape;321;p18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2" name="Google Shape;322;p18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3" name="Google Shape;323;p18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4" name="Google Shape;324;p18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5" name="Google Shape;325;p18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6" name="Google Shape;326;p18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29" name="Google Shape;329;p1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19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34" name="Google Shape;334;p19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45" name="Google Shape;345;p1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9" name="Google Shape;37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3" name="Google Shape;40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2" name="Google Shape;42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5" name="Google Shape;4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25"/>
              <a:t>Kyle Breen-Bondie</a:t>
            </a:r>
            <a:endParaRPr sz="102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25"/>
              <a:t>CIS 476</a:t>
            </a:r>
            <a:endParaRPr sz="102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25"/>
              <a:t>3.15.26</a:t>
            </a:r>
            <a:endParaRPr sz="1025"/>
          </a:p>
        </p:txBody>
      </p:sp>
      <p:sp>
        <p:nvSpPr>
          <p:cNvPr id="457" name="Google Shape;457;p41"/>
          <p:cNvSpPr txBox="1"/>
          <p:nvPr>
            <p:ph type="title"/>
          </p:nvPr>
        </p:nvSpPr>
        <p:spPr>
          <a:xfrm>
            <a:off x="252600" y="3294014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</a:pPr>
            <a:r>
              <a:rPr lang="en" sz="8900"/>
              <a:t>State Pattern</a:t>
            </a:r>
            <a:endParaRPr sz="8900"/>
          </a:p>
        </p:txBody>
      </p:sp>
      <p:sp>
        <p:nvSpPr>
          <p:cNvPr id="458" name="Google Shape;458;p41"/>
          <p:cNvSpPr txBox="1"/>
          <p:nvPr>
            <p:ph type="title"/>
          </p:nvPr>
        </p:nvSpPr>
        <p:spPr>
          <a:xfrm>
            <a:off x="252611" y="3898910"/>
            <a:ext cx="7775700" cy="86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200">
                <a:solidFill>
                  <a:schemeClr val="dk1"/>
                </a:solidFill>
                <a:highlight>
                  <a:schemeClr val="accent2"/>
                </a:highlight>
              </a:rPr>
              <a:t>Torpedo Tube Application</a:t>
            </a:r>
            <a:endParaRPr sz="3200">
              <a:solidFill>
                <a:schemeClr val="dk1"/>
              </a:solidFill>
              <a:highlight>
                <a:schemeClr val="accent2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"/>
          <p:cNvSpPr/>
          <p:nvPr/>
        </p:nvSpPr>
        <p:spPr>
          <a:xfrm>
            <a:off x="3608025" y="-10725"/>
            <a:ext cx="588300" cy="3633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4" name="Google Shape;464;p42"/>
          <p:cNvSpPr txBox="1"/>
          <p:nvPr>
            <p:ph type="title"/>
          </p:nvPr>
        </p:nvSpPr>
        <p:spPr>
          <a:xfrm>
            <a:off x="252600" y="111415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9"/>
              <a:t>Background:</a:t>
            </a:r>
            <a:endParaRPr sz="350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9"/>
              <a:t>Submarine Game</a:t>
            </a:r>
            <a:endParaRPr sz="3509"/>
          </a:p>
        </p:txBody>
      </p:sp>
      <p:sp>
        <p:nvSpPr>
          <p:cNvPr id="465" name="Google Shape;465;p42"/>
          <p:cNvSpPr txBox="1"/>
          <p:nvPr>
            <p:ph idx="2" type="body"/>
          </p:nvPr>
        </p:nvSpPr>
        <p:spPr>
          <a:xfrm>
            <a:off x="252600" y="2661525"/>
            <a:ext cx="3641100" cy="198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Python game (Originally a </a:t>
            </a:r>
            <a:br>
              <a:rPr lang="en" sz="1600"/>
            </a:br>
            <a:r>
              <a:rPr lang="en" sz="1600"/>
              <a:t>board game)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Played through console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Player controls a submarine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66" name="Google Shape;466;p42"/>
          <p:cNvPicPr preferRelativeResize="0"/>
          <p:nvPr/>
        </p:nvPicPr>
        <p:blipFill rotWithShape="1">
          <a:blip r:embed="rId3">
            <a:alphaModFix/>
          </a:blip>
          <a:srcRect b="2306" l="15564" r="15750" t="0"/>
          <a:stretch/>
        </p:blipFill>
        <p:spPr>
          <a:xfrm>
            <a:off x="4898725" y="695900"/>
            <a:ext cx="3233024" cy="21336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/>
          <p:nvPr/>
        </p:nvSpPr>
        <p:spPr>
          <a:xfrm>
            <a:off x="3608025" y="-10725"/>
            <a:ext cx="588300" cy="3633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2" name="Google Shape;472;p43"/>
          <p:cNvSpPr txBox="1"/>
          <p:nvPr>
            <p:ph type="title"/>
          </p:nvPr>
        </p:nvSpPr>
        <p:spPr>
          <a:xfrm>
            <a:off x="252600" y="656743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9"/>
              <a:t>Intent</a:t>
            </a:r>
            <a:endParaRPr sz="3509"/>
          </a:p>
        </p:txBody>
      </p:sp>
      <p:sp>
        <p:nvSpPr>
          <p:cNvPr id="473" name="Google Shape;473;p43"/>
          <p:cNvSpPr txBox="1"/>
          <p:nvPr>
            <p:ph idx="2" type="body"/>
          </p:nvPr>
        </p:nvSpPr>
        <p:spPr>
          <a:xfrm>
            <a:off x="252600" y="2661525"/>
            <a:ext cx="3641100" cy="222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Recreate and </a:t>
            </a:r>
            <a:r>
              <a:rPr lang="en" sz="1600"/>
              <a:t>improve torpedo tubes &amp; logic using state pattern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Tubes exist within “banks” -ie “Starboard Fore”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Tubes Banks can be operational, inoperable or broken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Individual Tubes have operations like fire( ), </a:t>
            </a:r>
            <a:br>
              <a:rPr lang="en" sz="1600"/>
            </a:br>
            <a:r>
              <a:rPr lang="en" sz="1600"/>
              <a:t>load( ), repair( )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74" name="Google Shape;474;p43"/>
          <p:cNvPicPr preferRelativeResize="0"/>
          <p:nvPr/>
        </p:nvPicPr>
        <p:blipFill rotWithShape="1">
          <a:blip r:embed="rId3">
            <a:alphaModFix/>
          </a:blip>
          <a:srcRect b="284" l="0" r="0" t="10930"/>
          <a:stretch/>
        </p:blipFill>
        <p:spPr>
          <a:xfrm>
            <a:off x="4463875" y="656750"/>
            <a:ext cx="4364775" cy="23243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 txBox="1"/>
          <p:nvPr>
            <p:ph type="title"/>
          </p:nvPr>
        </p:nvSpPr>
        <p:spPr>
          <a:xfrm>
            <a:off x="463650" y="342325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0"/>
              <a:t>Class</a:t>
            </a:r>
            <a:endParaRPr sz="7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0"/>
              <a:t>Diagram</a:t>
            </a:r>
            <a:endParaRPr sz="7000"/>
          </a:p>
        </p:txBody>
      </p:sp>
      <p:pic>
        <p:nvPicPr>
          <p:cNvPr id="480" name="Google Shape;480;p44" title="Torpedo_U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387" y="2307875"/>
            <a:ext cx="6933226" cy="25832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5"/>
          <p:cNvSpPr/>
          <p:nvPr/>
        </p:nvSpPr>
        <p:spPr>
          <a:xfrm>
            <a:off x="956100" y="2038475"/>
            <a:ext cx="363900" cy="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6" name="Google Shape;486;p45"/>
          <p:cNvSpPr/>
          <p:nvPr/>
        </p:nvSpPr>
        <p:spPr>
          <a:xfrm>
            <a:off x="1311675" y="2038475"/>
            <a:ext cx="363900" cy="8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7" name="Google Shape;487;p45"/>
          <p:cNvSpPr/>
          <p:nvPr/>
        </p:nvSpPr>
        <p:spPr>
          <a:xfrm>
            <a:off x="3829350" y="1921800"/>
            <a:ext cx="1053000" cy="78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8" name="Google Shape;488;p45"/>
          <p:cNvSpPr txBox="1"/>
          <p:nvPr>
            <p:ph idx="4" type="title"/>
          </p:nvPr>
        </p:nvSpPr>
        <p:spPr>
          <a:xfrm>
            <a:off x="883025" y="918820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TubeBank Class</a:t>
            </a:r>
            <a:endParaRPr/>
          </a:p>
        </p:txBody>
      </p:sp>
      <p:sp>
        <p:nvSpPr>
          <p:cNvPr id="489" name="Google Shape;489;p45"/>
          <p:cNvSpPr txBox="1"/>
          <p:nvPr>
            <p:ph type="title"/>
          </p:nvPr>
        </p:nvSpPr>
        <p:spPr>
          <a:xfrm>
            <a:off x="4946700" y="1047675"/>
            <a:ext cx="3093300" cy="29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Group of torpedo tubes from the same side/location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Responsible for storing bank’s shared data, like name, tube count, etc.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Methods delegate behavior to current state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490" name="Google Shape;490;p45"/>
          <p:cNvPicPr preferRelativeResize="0"/>
          <p:nvPr/>
        </p:nvPicPr>
        <p:blipFill rotWithShape="1">
          <a:blip r:embed="rId3">
            <a:alphaModFix/>
          </a:blip>
          <a:srcRect b="10642" l="0" r="5580" t="0"/>
          <a:stretch/>
        </p:blipFill>
        <p:spPr>
          <a:xfrm>
            <a:off x="389676" y="1570450"/>
            <a:ext cx="4446000" cy="31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6"/>
          <p:cNvSpPr/>
          <p:nvPr/>
        </p:nvSpPr>
        <p:spPr>
          <a:xfrm>
            <a:off x="956100" y="2038475"/>
            <a:ext cx="363900" cy="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1311675" y="2038475"/>
            <a:ext cx="363900" cy="8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97" name="Google Shape;497;p46"/>
          <p:cNvSpPr/>
          <p:nvPr/>
        </p:nvSpPr>
        <p:spPr>
          <a:xfrm>
            <a:off x="3829350" y="1921800"/>
            <a:ext cx="1053000" cy="78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98" name="Google Shape;498;p46"/>
          <p:cNvSpPr txBox="1"/>
          <p:nvPr>
            <p:ph idx="4" type="title"/>
          </p:nvPr>
        </p:nvSpPr>
        <p:spPr>
          <a:xfrm>
            <a:off x="883025" y="918820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TubeBankState</a:t>
            </a:r>
            <a:endParaRPr/>
          </a:p>
        </p:txBody>
      </p:sp>
      <p:sp>
        <p:nvSpPr>
          <p:cNvPr id="499" name="Google Shape;499;p46"/>
          <p:cNvSpPr txBox="1"/>
          <p:nvPr>
            <p:ph type="title"/>
          </p:nvPr>
        </p:nvSpPr>
        <p:spPr>
          <a:xfrm>
            <a:off x="4946700" y="1047675"/>
            <a:ext cx="3093300" cy="29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Abstract state class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Defines the structure that </a:t>
            </a:r>
            <a:r>
              <a:rPr lang="en" sz="1300"/>
              <a:t>every</a:t>
            </a:r>
            <a:r>
              <a:rPr lang="en" sz="1300"/>
              <a:t> state must follow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Gives states all the necessary operations</a:t>
            </a:r>
            <a:endParaRPr sz="1300"/>
          </a:p>
        </p:txBody>
      </p:sp>
      <p:pic>
        <p:nvPicPr>
          <p:cNvPr id="500" name="Google Shape;500;p46"/>
          <p:cNvPicPr preferRelativeResize="0"/>
          <p:nvPr/>
        </p:nvPicPr>
        <p:blipFill rotWithShape="1">
          <a:blip r:embed="rId3">
            <a:alphaModFix/>
          </a:blip>
          <a:srcRect b="0" l="0" r="30415" t="0"/>
          <a:stretch/>
        </p:blipFill>
        <p:spPr>
          <a:xfrm>
            <a:off x="421112" y="1831125"/>
            <a:ext cx="4406086" cy="29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7"/>
          <p:cNvSpPr/>
          <p:nvPr/>
        </p:nvSpPr>
        <p:spPr>
          <a:xfrm>
            <a:off x="956100" y="2038475"/>
            <a:ext cx="363900" cy="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06" name="Google Shape;506;p47"/>
          <p:cNvSpPr/>
          <p:nvPr/>
        </p:nvSpPr>
        <p:spPr>
          <a:xfrm>
            <a:off x="1311675" y="2038475"/>
            <a:ext cx="363900" cy="8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3829350" y="1921800"/>
            <a:ext cx="1053000" cy="78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08" name="Google Shape;508;p47"/>
          <p:cNvSpPr txBox="1"/>
          <p:nvPr>
            <p:ph idx="4" type="title"/>
          </p:nvPr>
        </p:nvSpPr>
        <p:spPr>
          <a:xfrm>
            <a:off x="883025" y="918820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Concrete States</a:t>
            </a:r>
            <a:endParaRPr/>
          </a:p>
        </p:txBody>
      </p:sp>
      <p:sp>
        <p:nvSpPr>
          <p:cNvPr id="509" name="Google Shape;509;p47"/>
          <p:cNvSpPr txBox="1"/>
          <p:nvPr>
            <p:ph type="title"/>
          </p:nvPr>
        </p:nvSpPr>
        <p:spPr>
          <a:xfrm>
            <a:off x="4946700" y="1047675"/>
            <a:ext cx="3119700" cy="29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3 concrete states are defined: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Operational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Inoperable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Broken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Operational is normal, working state that allows for function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Inoperable and broken are varying degrees of damage that disallow things like loading </a:t>
            </a:r>
            <a:br>
              <a:rPr lang="en" sz="1300"/>
            </a:br>
            <a:r>
              <a:rPr lang="en" sz="1300"/>
              <a:t>and firing</a:t>
            </a:r>
            <a:endParaRPr sz="1300"/>
          </a:p>
        </p:txBody>
      </p:sp>
      <p:pic>
        <p:nvPicPr>
          <p:cNvPr id="510" name="Google Shape;5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78" y="1542425"/>
            <a:ext cx="4373876" cy="32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8"/>
          <p:cNvSpPr/>
          <p:nvPr/>
        </p:nvSpPr>
        <p:spPr>
          <a:xfrm>
            <a:off x="956100" y="2038475"/>
            <a:ext cx="363900" cy="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6" name="Google Shape;516;p48"/>
          <p:cNvSpPr/>
          <p:nvPr/>
        </p:nvSpPr>
        <p:spPr>
          <a:xfrm>
            <a:off x="1311675" y="2038475"/>
            <a:ext cx="363900" cy="8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7" name="Google Shape;517;p48"/>
          <p:cNvSpPr/>
          <p:nvPr/>
        </p:nvSpPr>
        <p:spPr>
          <a:xfrm>
            <a:off x="3829350" y="1921800"/>
            <a:ext cx="1053000" cy="78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8" name="Google Shape;518;p48"/>
          <p:cNvSpPr txBox="1"/>
          <p:nvPr>
            <p:ph idx="4" type="title"/>
          </p:nvPr>
        </p:nvSpPr>
        <p:spPr>
          <a:xfrm>
            <a:off x="883025" y="918820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400"/>
              <a:t>State </a:t>
            </a:r>
            <a:r>
              <a:rPr lang="en" sz="3400"/>
              <a:t>Transitions</a:t>
            </a:r>
            <a:endParaRPr sz="3400"/>
          </a:p>
        </p:txBody>
      </p:sp>
      <p:sp>
        <p:nvSpPr>
          <p:cNvPr id="519" name="Google Shape;519;p48"/>
          <p:cNvSpPr txBox="1"/>
          <p:nvPr>
            <p:ph type="title"/>
          </p:nvPr>
        </p:nvSpPr>
        <p:spPr>
          <a:xfrm>
            <a:off x="4946700" y="1047675"/>
            <a:ext cx="3119700" cy="290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States can change via take_damage( ) or repair( 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 current state controls the action taken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Ensures the correct action is taken (can’t repair an already operational tube)</a:t>
            </a:r>
            <a:endParaRPr sz="1300"/>
          </a:p>
        </p:txBody>
      </p:sp>
      <p:pic>
        <p:nvPicPr>
          <p:cNvPr id="520" name="Google Shape;5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75" y="3270944"/>
            <a:ext cx="4363887" cy="7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9"/>
          <p:cNvSpPr txBox="1"/>
          <p:nvPr>
            <p:ph type="title"/>
          </p:nvPr>
        </p:nvSpPr>
        <p:spPr>
          <a:xfrm>
            <a:off x="236900" y="1321732"/>
            <a:ext cx="3488700" cy="8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Removes cumbersome conditional logic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Behavior is determined at the state / condition level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Easy to add states</a:t>
            </a:r>
            <a:endParaRPr sz="1200"/>
          </a:p>
        </p:txBody>
      </p:sp>
      <p:sp>
        <p:nvSpPr>
          <p:cNvPr id="526" name="Google Shape;526;p49"/>
          <p:cNvSpPr txBox="1"/>
          <p:nvPr>
            <p:ph idx="2" type="title"/>
          </p:nvPr>
        </p:nvSpPr>
        <p:spPr>
          <a:xfrm>
            <a:off x="236900" y="203867"/>
            <a:ext cx="6737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Advantage, Disadvantages &amp; Applications</a:t>
            </a:r>
            <a:endParaRPr sz="2600"/>
          </a:p>
        </p:txBody>
      </p:sp>
      <p:sp>
        <p:nvSpPr>
          <p:cNvPr id="527" name="Google Shape;527;p49"/>
          <p:cNvSpPr txBox="1"/>
          <p:nvPr>
            <p:ph idx="1" type="subTitle"/>
          </p:nvPr>
        </p:nvSpPr>
        <p:spPr>
          <a:xfrm>
            <a:off x="386873" y="2355111"/>
            <a:ext cx="6948300" cy="245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There are several real world applications that have states that control behavior. Some other examples: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Turnstile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Vending Machine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Elevator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Traffic Light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Online Ordering System (Order Status)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Video Games</a:t>
            </a:r>
            <a:endParaRPr u="none"/>
          </a:p>
        </p:txBody>
      </p:sp>
      <p:sp>
        <p:nvSpPr>
          <p:cNvPr id="528" name="Google Shape;528;p49"/>
          <p:cNvSpPr txBox="1"/>
          <p:nvPr>
            <p:ph idx="2" type="title"/>
          </p:nvPr>
        </p:nvSpPr>
        <p:spPr>
          <a:xfrm>
            <a:off x="1866068" y="762800"/>
            <a:ext cx="8793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+</a:t>
            </a:r>
            <a:endParaRPr sz="2600"/>
          </a:p>
        </p:txBody>
      </p:sp>
      <p:sp>
        <p:nvSpPr>
          <p:cNvPr id="529" name="Google Shape;529;p49"/>
          <p:cNvSpPr txBox="1"/>
          <p:nvPr>
            <p:ph type="title"/>
          </p:nvPr>
        </p:nvSpPr>
        <p:spPr>
          <a:xfrm>
            <a:off x="4692318" y="1321732"/>
            <a:ext cx="3488700" cy="8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Overly complicated for small systems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More classes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Less obvious / harder to follow at first glance</a:t>
            </a:r>
            <a:endParaRPr sz="1200"/>
          </a:p>
        </p:txBody>
      </p:sp>
      <p:sp>
        <p:nvSpPr>
          <p:cNvPr id="530" name="Google Shape;530;p49"/>
          <p:cNvSpPr txBox="1"/>
          <p:nvPr>
            <p:ph idx="2" type="title"/>
          </p:nvPr>
        </p:nvSpPr>
        <p:spPr>
          <a:xfrm>
            <a:off x="6340156" y="762800"/>
            <a:ext cx="8793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600"/>
              <a:t>-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